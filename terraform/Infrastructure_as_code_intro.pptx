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9" r:id="rId4"/>
    <p:sldId id="263" r:id="rId5"/>
    <p:sldId id="257" r:id="rId6"/>
    <p:sldId id="262" r:id="rId7"/>
    <p:sldId id="265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9B736-2C12-4B75-BC3B-3F58C291C6B6}" v="10" dt="2026-03-05T22:01:57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5"/>
    <p:restoredTop sz="96247" autoAdjust="0"/>
  </p:normalViewPr>
  <p:slideViewPr>
    <p:cSldViewPr snapToGrid="0">
      <p:cViewPr>
        <p:scale>
          <a:sx n="125" d="100"/>
          <a:sy n="125" d="100"/>
        </p:scale>
        <p:origin x="36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hn Kevin" userId="75489f47-1adf-41de-935e-cb886e8cbbd5" providerId="ADAL" clId="{D5C9FF75-1265-4926-A21D-49068B353A6C}"/>
    <pc:docChg chg="undo custSel addSld delSld modSld sldOrd">
      <pc:chgData name="Bohn Kevin" userId="75489f47-1adf-41de-935e-cb886e8cbbd5" providerId="ADAL" clId="{D5C9FF75-1265-4926-A21D-49068B353A6C}" dt="2026-03-05T22:14:47.344" v="662" actId="1076"/>
      <pc:docMkLst>
        <pc:docMk/>
      </pc:docMkLst>
      <pc:sldChg chg="addSp delSp modSp mod modAnim">
        <pc:chgData name="Bohn Kevin" userId="75489f47-1adf-41de-935e-cb886e8cbbd5" providerId="ADAL" clId="{D5C9FF75-1265-4926-A21D-49068B353A6C}" dt="2026-03-05T21:33:07.093" v="20" actId="1076"/>
        <pc:sldMkLst>
          <pc:docMk/>
          <pc:sldMk cId="406726285" sldId="257"/>
        </pc:sldMkLst>
        <pc:spChg chg="add mod ord">
          <ac:chgData name="Bohn Kevin" userId="75489f47-1adf-41de-935e-cb886e8cbbd5" providerId="ADAL" clId="{D5C9FF75-1265-4926-A21D-49068B353A6C}" dt="2026-03-05T21:33:07.093" v="20" actId="1076"/>
          <ac:spMkLst>
            <pc:docMk/>
            <pc:sldMk cId="406726285" sldId="257"/>
            <ac:spMk id="5" creationId="{151010D7-89F7-5B3A-D5A3-CF8D5A94A1D7}"/>
          </ac:spMkLst>
        </pc:spChg>
        <pc:picChg chg="add mod">
          <ac:chgData name="Bohn Kevin" userId="75489f47-1adf-41de-935e-cb886e8cbbd5" providerId="ADAL" clId="{D5C9FF75-1265-4926-A21D-49068B353A6C}" dt="2026-03-05T21:31:34.216" v="10" actId="1076"/>
          <ac:picMkLst>
            <pc:docMk/>
            <pc:sldMk cId="406726285" sldId="257"/>
            <ac:picMk id="3" creationId="{F244E7C0-2E59-6CB0-0991-35FE069C27B2}"/>
          </ac:picMkLst>
        </pc:picChg>
        <pc:picChg chg="del">
          <ac:chgData name="Bohn Kevin" userId="75489f47-1adf-41de-935e-cb886e8cbbd5" providerId="ADAL" clId="{D5C9FF75-1265-4926-A21D-49068B353A6C}" dt="2026-03-05T21:31:30.402" v="6" actId="478"/>
          <ac:picMkLst>
            <pc:docMk/>
            <pc:sldMk cId="406726285" sldId="257"/>
            <ac:picMk id="21" creationId="{8993191F-BA38-6B2E-3D6B-6CFAEC92FD9C}"/>
          </ac:picMkLst>
        </pc:picChg>
      </pc:sldChg>
      <pc:sldChg chg="addSp delSp modSp add del mod">
        <pc:chgData name="Bohn Kevin" userId="75489f47-1adf-41de-935e-cb886e8cbbd5" providerId="ADAL" clId="{D5C9FF75-1265-4926-A21D-49068B353A6C}" dt="2026-03-05T21:45:00.163" v="52" actId="47"/>
        <pc:sldMkLst>
          <pc:docMk/>
          <pc:sldMk cId="4071734652" sldId="264"/>
        </pc:sldMkLst>
        <pc:spChg chg="add del mod">
          <ac:chgData name="Bohn Kevin" userId="75489f47-1adf-41de-935e-cb886e8cbbd5" providerId="ADAL" clId="{D5C9FF75-1265-4926-A21D-49068B353A6C}" dt="2026-03-05T21:44:57.544" v="51" actId="21"/>
          <ac:spMkLst>
            <pc:docMk/>
            <pc:sldMk cId="4071734652" sldId="264"/>
            <ac:spMk id="4" creationId="{0512BE7E-7780-8DCB-F323-1AF0E4B7AE93}"/>
          </ac:spMkLst>
        </pc:spChg>
        <pc:spChg chg="mod">
          <ac:chgData name="Bohn Kevin" userId="75489f47-1adf-41de-935e-cb886e8cbbd5" providerId="ADAL" clId="{D5C9FF75-1265-4926-A21D-49068B353A6C}" dt="2026-03-05T21:44:12.340" v="42" actId="27636"/>
          <ac:spMkLst>
            <pc:docMk/>
            <pc:sldMk cId="4071734652" sldId="264"/>
            <ac:spMk id="5" creationId="{23AD75BA-ED19-D806-187B-811D0A2CA753}"/>
          </ac:spMkLst>
        </pc:spChg>
        <pc:picChg chg="del">
          <ac:chgData name="Bohn Kevin" userId="75489f47-1adf-41de-935e-cb886e8cbbd5" providerId="ADAL" clId="{D5C9FF75-1265-4926-A21D-49068B353A6C}" dt="2026-03-05T21:44:14.675" v="43" actId="478"/>
          <ac:picMkLst>
            <pc:docMk/>
            <pc:sldMk cId="4071734652" sldId="264"/>
            <ac:picMk id="3" creationId="{727B5771-0CB7-FB4D-39D4-19AFB4BE7149}"/>
          </ac:picMkLst>
        </pc:picChg>
      </pc:sldChg>
      <pc:sldChg chg="add del">
        <pc:chgData name="Bohn Kevin" userId="75489f47-1adf-41de-935e-cb886e8cbbd5" providerId="ADAL" clId="{D5C9FF75-1265-4926-A21D-49068B353A6C}" dt="2026-03-05T21:44:18.835" v="45" actId="47"/>
        <pc:sldMkLst>
          <pc:docMk/>
          <pc:sldMk cId="843080134" sldId="265"/>
        </pc:sldMkLst>
      </pc:sldChg>
      <pc:sldChg chg="addSp delSp modSp add mod ord">
        <pc:chgData name="Bohn Kevin" userId="75489f47-1adf-41de-935e-cb886e8cbbd5" providerId="ADAL" clId="{D5C9FF75-1265-4926-A21D-49068B353A6C}" dt="2026-03-05T22:14:47.344" v="662" actId="1076"/>
        <pc:sldMkLst>
          <pc:docMk/>
          <pc:sldMk cId="1369171627" sldId="265"/>
        </pc:sldMkLst>
        <pc:spChg chg="mod">
          <ac:chgData name="Bohn Kevin" userId="75489f47-1adf-41de-935e-cb886e8cbbd5" providerId="ADAL" clId="{D5C9FF75-1265-4926-A21D-49068B353A6C}" dt="2026-03-05T21:45:10.349" v="76" actId="20577"/>
          <ac:spMkLst>
            <pc:docMk/>
            <pc:sldMk cId="1369171627" sldId="265"/>
            <ac:spMk id="2" creationId="{99551013-EF4B-7501-747D-F5F0FF2EB4E3}"/>
          </ac:spMkLst>
        </pc:spChg>
        <pc:spChg chg="add mod">
          <ac:chgData name="Bohn Kevin" userId="75489f47-1adf-41de-935e-cb886e8cbbd5" providerId="ADAL" clId="{D5C9FF75-1265-4926-A21D-49068B353A6C}" dt="2026-03-05T22:14:42.536" v="660" actId="14100"/>
          <ac:spMkLst>
            <pc:docMk/>
            <pc:sldMk cId="1369171627" sldId="265"/>
            <ac:spMk id="4" creationId="{0512BE7E-7780-8DCB-F323-1AF0E4B7AE93}"/>
          </ac:spMkLst>
        </pc:spChg>
        <pc:spChg chg="del mod">
          <ac:chgData name="Bohn Kevin" userId="75489f47-1adf-41de-935e-cb886e8cbbd5" providerId="ADAL" clId="{D5C9FF75-1265-4926-A21D-49068B353A6C}" dt="2026-03-05T21:45:17.225" v="80" actId="478"/>
          <ac:spMkLst>
            <pc:docMk/>
            <pc:sldMk cId="1369171627" sldId="265"/>
            <ac:spMk id="6" creationId="{B84D087D-3E19-0A74-2C73-E1DEF2165723}"/>
          </ac:spMkLst>
        </pc:spChg>
        <pc:picChg chg="del">
          <ac:chgData name="Bohn Kevin" userId="75489f47-1adf-41de-935e-cb886e8cbbd5" providerId="ADAL" clId="{D5C9FF75-1265-4926-A21D-49068B353A6C}" dt="2026-03-05T21:45:13.319" v="77" actId="478"/>
          <ac:picMkLst>
            <pc:docMk/>
            <pc:sldMk cId="1369171627" sldId="265"/>
            <ac:picMk id="5" creationId="{0020217E-9B25-B597-3350-7CD5E6D5BAF1}"/>
          </ac:picMkLst>
        </pc:picChg>
        <pc:picChg chg="add mod">
          <ac:chgData name="Bohn Kevin" userId="75489f47-1adf-41de-935e-cb886e8cbbd5" providerId="ADAL" clId="{D5C9FF75-1265-4926-A21D-49068B353A6C}" dt="2026-03-05T22:14:47.344" v="662" actId="1076"/>
          <ac:picMkLst>
            <pc:docMk/>
            <pc:sldMk cId="1369171627" sldId="265"/>
            <ac:picMk id="7" creationId="{7BCF29D8-AAE0-06AD-D0E3-0670783AB9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EEB3C-39A9-3B4D-8C65-E1BD5819239B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FF0F1-6E4A-5648-8662-5A3E30C581D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3224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280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149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67784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E791-143A-E606-7D17-C6B2CB822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D4F42-2467-9E3C-CC18-D365AE139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59E22-3E62-CA66-4758-B35181F64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C670D-7092-A650-FAD4-60E780127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72246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22155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983E-72EB-27EF-8E71-BE9F4EF1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99E5E-EE60-19CA-87B6-4C74DBCD2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D67D3-6581-86BE-1C59-1F3B60E5B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A053B-56E2-41A4-4428-6336E2EDE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8044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1845-3826-05B0-5C17-79AF5BCD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7F599-B763-620E-FF41-715FEC793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1F9B0-1CCD-F40D-60A1-52B31059F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9772-941C-A57C-2A39-A79614581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FF0F1-6E4A-5648-8662-5A3E30C581D0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5657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D070-CDA2-9536-D966-F50E90BB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3F5C6-C57B-016D-7EA3-E6D9C3AAA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96C96-D674-21E1-D613-726C233C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0B13-3D50-2EBB-8483-70BD23D0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416AD-9FFB-F716-903E-95B71AB1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092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6B60-F41A-DC38-C467-35B40FCD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30EE9-5DD1-3695-E17D-176CCF2EC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DF88-5EEC-A97D-400D-47C89FA2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0D94-5943-5E4C-31B0-F7C85550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C476-B7F4-CD53-A575-691FEFD2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3886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2F41-977D-F816-155F-4969A54A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BEF23-F725-D547-A92B-9E86C9821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0685D-A61B-1FB6-F9D1-F47C5DE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BC17B-6269-5F6F-9AAF-624EC206F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30522-2010-5FD5-C98A-5F6E194A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1533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DBD88-5FDB-340F-6C22-1362EB88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74BB-0528-43A4-8638-C9A17E410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F8FF-37C0-1BC9-001E-9BAADC1CC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26300-B328-FCBE-B08F-7FD81DF2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079E3-579A-7C5D-B145-8CD770C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B37B-D808-85C9-F8E1-F4015DFD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6693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9FF3-E6A1-2DC6-688A-97F13962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AD33-F9D4-716E-C495-9942EEF2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365AB-4419-03F9-5CFC-B98BAF254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4773D-B83F-0C3E-6AD4-60DF4B7DE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71CD3-7916-BBBA-548C-EA77CF1DE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71F15-7FCD-41C9-D0A5-02D46682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A7892-66D9-1798-8628-A684BF63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BA3F8-DCD4-2FBB-A33D-9EB6C169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7834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A513-D44C-82F5-7519-7B524C27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9C69B-65FD-A86F-6226-D3C67B34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F2815-EAF4-908C-B2EB-76A0F847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8B75C-DE04-CCAA-D30E-9D0ECC61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5964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FBC34-D7AC-62C2-003E-32CFEC10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DBC22-A826-C656-D64D-7AFD2A59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457B1-5A9C-1ACF-A63C-383D58C6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41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CF64-414A-D6B2-9A4B-2D458FD7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3BFEC-48A2-83FF-7F6B-4B79C1CF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16A5-8E5F-EF0C-EED6-71A39DDB6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CE4A8-373F-CBA6-5F50-75E6CF08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26FB9-7CBD-054D-2237-64C205B5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30912-38FE-7B0C-B6BD-BC786FB9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119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60B1-E3D4-7391-948B-C14B39E8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AF123-3FFC-D39D-B5D9-996DA0F57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15AB2-12B4-5EA4-5067-3A20D6A4E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0026-93AC-6C0C-B62E-8A7A294A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48325-BC5D-D449-10A7-D45534E2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11490-4EA2-FF15-55A5-A4943791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862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6794-6747-A748-B900-463FB28A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1A445-F7D6-0415-B5E2-499DDF3D9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00F8B-DF6A-8CD9-6026-949F7688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65F91-FE8E-4349-51C3-DA8D1DEC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34C3-FFA4-F675-15D2-8CCC4A72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149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EFC0C-DDA3-EE84-BEAE-2D2945BF8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48C63-BF49-AB09-C093-72CEE3CF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9733-D282-4366-24BD-3A6C4727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67F6-6EC0-72FC-4D43-997D86E1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5FD60-3591-3E37-6ABF-D9751AF7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6802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69B87-982C-002F-D31C-D1459092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44F23-19E0-CA74-EB7D-41379B183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13F4-E374-2A46-82C1-AAC9DFA48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745F1-535A-5F43-B24D-EE1DEDCDC0CA}" type="datetimeFigureOut">
              <a:rPr lang="en-CH" smtClean="0"/>
              <a:t>03/05/2026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99D2-815B-C200-2C75-193A5DEFA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BE98-0746-588D-C7CC-6965CA8E6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B5398-910A-C146-A7BE-9C76D7F4B81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380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acelift.io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hyperlink" Target="https://bluelight.co/blog/best-infrastructure-as-code-tools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userguide/getting-started-install.html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BZ-Teaching/terraform_example" TargetMode="External"/><Relationship Id="rId5" Type="http://schemas.openxmlformats.org/officeDocument/2006/relationships/hyperlink" Target="https://developer.hashicorp.com/terraform/tutorials/aws-get-started/install-cli" TargetMode="External"/><Relationship Id="rId4" Type="http://schemas.openxmlformats.org/officeDocument/2006/relationships/hyperlink" Target="https://learn.microsoft.com/en-us/windows/wsl/inst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DCCE-AF04-AF51-6BDD-CB026192B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Infrastructure as code (IaC)</a:t>
            </a:r>
          </a:p>
        </p:txBody>
      </p:sp>
    </p:spTree>
    <p:extLst>
      <p:ext uri="{BB962C8B-B14F-4D97-AF65-F5344CB8AC3E}">
        <p14:creationId xmlns:p14="http://schemas.microsoft.com/office/powerpoint/2010/main" val="197987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1957-4ABE-744B-8065-82262767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4068-1895-B289-EE78-0976376E9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3219"/>
            <a:ext cx="9144000" cy="1665649"/>
          </a:xfrm>
        </p:spPr>
        <p:txBody>
          <a:bodyPr>
            <a:noAutofit/>
          </a:bodyPr>
          <a:lstStyle/>
          <a:p>
            <a:r>
              <a:rPr lang="en-CH" sz="2400" b="1" i="0" u="none" strike="noStrike" dirty="0">
                <a:effectLst/>
                <a:latin typeface="Helvetica" pitchFamily="2" charset="0"/>
              </a:rPr>
              <a:t>“</a:t>
            </a:r>
            <a:r>
              <a:rPr lang="en-GB" sz="2400" b="1" i="0" u="none" strike="noStrike" dirty="0">
                <a:effectLst/>
                <a:latin typeface="Helvetica" pitchFamily="2" charset="0"/>
              </a:rPr>
              <a:t>Infrastructure as Code (</a:t>
            </a:r>
            <a:r>
              <a:rPr lang="en-GB" sz="2400" b="1" i="0" u="none" strike="noStrike" dirty="0" err="1">
                <a:effectLst/>
                <a:latin typeface="Helvetica" pitchFamily="2" charset="0"/>
              </a:rPr>
              <a:t>IaC</a:t>
            </a:r>
            <a:r>
              <a:rPr lang="en-GB" sz="2400" b="1" i="0" u="none" strike="noStrike" dirty="0">
                <a:effectLst/>
                <a:latin typeface="Helvetica" pitchFamily="2" charset="0"/>
              </a:rPr>
              <a:t>)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ist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eine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Methode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zur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b="1" i="0" u="none" strike="noStrike" dirty="0" err="1">
                <a:effectLst/>
                <a:latin typeface="Helvetica" pitchFamily="2" charset="0"/>
              </a:rPr>
              <a:t>Verwaltung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und </a:t>
            </a:r>
            <a:r>
              <a:rPr lang="en-GB" sz="2400" b="1" i="0" u="none" strike="noStrike" dirty="0" err="1">
                <a:effectLst/>
                <a:latin typeface="Helvetica" pitchFamily="2" charset="0"/>
              </a:rPr>
              <a:t>Bereitstellung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von IT-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Infrastruktur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mittels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b="1" i="0" u="none" strike="noStrike" dirty="0">
                <a:effectLst/>
                <a:latin typeface="Helvetica" pitchFamily="2" charset="0"/>
              </a:rPr>
              <a:t>Code-</a:t>
            </a:r>
            <a:r>
              <a:rPr lang="en-GB" sz="2400" b="1" i="0" u="none" strike="noStrike" dirty="0" err="1">
                <a:effectLst/>
                <a:latin typeface="Helvetica" pitchFamily="2" charset="0"/>
              </a:rPr>
              <a:t>basierter</a:t>
            </a:r>
            <a:r>
              <a:rPr lang="en-GB" sz="2400" b="1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b="1" i="0" u="none" strike="noStrike" dirty="0" err="1">
                <a:effectLst/>
                <a:latin typeface="Helvetica" pitchFamily="2" charset="0"/>
              </a:rPr>
              <a:t>Automatisierung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, die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konsistente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,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skalierbare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und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versionskontrollierte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Umgebungen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 </a:t>
            </a:r>
            <a:r>
              <a:rPr lang="en-GB" sz="2400" i="0" u="none" strike="noStrike" dirty="0" err="1">
                <a:effectLst/>
                <a:latin typeface="Helvetica" pitchFamily="2" charset="0"/>
              </a:rPr>
              <a:t>gewährleistet</a:t>
            </a:r>
            <a:r>
              <a:rPr lang="en-GB" sz="2400" i="0" u="none" strike="noStrike" dirty="0">
                <a:effectLst/>
                <a:latin typeface="Helvetica" pitchFamily="2" charset="0"/>
              </a:rPr>
              <a:t>.”</a:t>
            </a:r>
            <a:endParaRPr lang="en-CH" sz="2400" dirty="0"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E35D74-96AA-A1BE-BEE0-F8596274BE38}"/>
              </a:ext>
            </a:extLst>
          </p:cNvPr>
          <p:cNvSpPr txBox="1">
            <a:spLocks/>
          </p:cNvSpPr>
          <p:nvPr/>
        </p:nvSpPr>
        <p:spPr>
          <a:xfrm>
            <a:off x="838200" y="567152"/>
            <a:ext cx="10515600" cy="8469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H" sz="4400" dirty="0"/>
              <a:t>In a nutshell</a:t>
            </a:r>
          </a:p>
        </p:txBody>
      </p:sp>
    </p:spTree>
    <p:extLst>
      <p:ext uri="{BB962C8B-B14F-4D97-AF65-F5344CB8AC3E}">
        <p14:creationId xmlns:p14="http://schemas.microsoft.com/office/powerpoint/2010/main" val="2626680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52FD-1605-7017-F290-652C1DBA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5A68-B8F2-9ECF-A1D1-7A8C3966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Why should you use IaC Tools?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0D54F-8B76-66CC-696D-4B0AE4B1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GB" b="1" i="0" dirty="0" err="1">
                <a:effectLst/>
                <a:latin typeface="Helvetica Now Text" pitchFamily="2" charset="0"/>
              </a:rPr>
              <a:t>Geschwindigkeit</a:t>
            </a:r>
            <a:r>
              <a:rPr lang="en-GB" b="1" i="0" dirty="0">
                <a:effectLst/>
                <a:latin typeface="Helvetica Now Text" pitchFamily="2" charset="0"/>
              </a:rPr>
              <a:t> und </a:t>
            </a:r>
            <a:r>
              <a:rPr lang="en-GB" b="1" i="0" dirty="0" err="1">
                <a:effectLst/>
                <a:latin typeface="Helvetica Now Text" pitchFamily="2" charset="0"/>
              </a:rPr>
              <a:t>Effizienz</a:t>
            </a:r>
            <a:r>
              <a:rPr lang="en-GB" b="0" i="0" dirty="0">
                <a:effectLst/>
                <a:latin typeface="Helvetica Now Text" pitchFamily="2" charset="0"/>
              </a:rPr>
              <a:t>: </a:t>
            </a:r>
            <a:r>
              <a:rPr lang="en-GB" b="0" i="0" dirty="0" err="1">
                <a:effectLst/>
                <a:latin typeface="Helvetica Now Text" pitchFamily="2" charset="0"/>
              </a:rPr>
              <a:t>Automatisierte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Prozesse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verkürzen</a:t>
            </a:r>
            <a:r>
              <a:rPr lang="en-GB" b="0" i="0" dirty="0">
                <a:effectLst/>
                <a:latin typeface="Helvetica Now Text" pitchFamily="2" charset="0"/>
              </a:rPr>
              <a:t> die Zeit, die für die </a:t>
            </a:r>
            <a:r>
              <a:rPr lang="en-GB" b="0" i="0" dirty="0" err="1">
                <a:effectLst/>
                <a:latin typeface="Helvetica Now Text" pitchFamily="2" charset="0"/>
              </a:rPr>
              <a:t>Bereitstellung</a:t>
            </a:r>
            <a:r>
              <a:rPr lang="en-GB" b="0" i="0" dirty="0">
                <a:effectLst/>
                <a:latin typeface="Helvetica Now Text" pitchFamily="2" charset="0"/>
              </a:rPr>
              <a:t> und </a:t>
            </a:r>
            <a:r>
              <a:rPr lang="en-GB" b="0" i="0" dirty="0" err="1">
                <a:effectLst/>
                <a:latin typeface="Helvetica Now Text" pitchFamily="2" charset="0"/>
              </a:rPr>
              <a:t>Verwaltung</a:t>
            </a:r>
            <a:r>
              <a:rPr lang="en-GB" b="0" i="0" dirty="0">
                <a:effectLst/>
                <a:latin typeface="Helvetica Now Text" pitchFamily="2" charset="0"/>
              </a:rPr>
              <a:t> von </a:t>
            </a:r>
            <a:r>
              <a:rPr lang="en-GB" b="0" i="0" dirty="0" err="1">
                <a:effectLst/>
                <a:latin typeface="Helvetica Now Text" pitchFamily="2" charset="0"/>
              </a:rPr>
              <a:t>Infrastruktur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erforderlich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ist</a:t>
            </a:r>
            <a:r>
              <a:rPr lang="en-GB" b="0" i="0" dirty="0">
                <a:effectLst/>
                <a:latin typeface="Helvetica Now Text" pitchFamily="2" charset="0"/>
              </a:rPr>
              <a:t>.</a:t>
            </a:r>
          </a:p>
          <a:p>
            <a:pPr algn="l"/>
            <a:r>
              <a:rPr lang="en-GB" b="1" i="0" dirty="0" err="1">
                <a:effectLst/>
                <a:latin typeface="Helvetica Now Text" pitchFamily="2" charset="0"/>
              </a:rPr>
              <a:t>Konsistenz</a:t>
            </a:r>
            <a:r>
              <a:rPr lang="en-GB" b="1" i="0" dirty="0">
                <a:effectLst/>
                <a:latin typeface="Helvetica Now Text" pitchFamily="2" charset="0"/>
              </a:rPr>
              <a:t> und </a:t>
            </a:r>
            <a:r>
              <a:rPr lang="en-GB" b="1" i="0" dirty="0" err="1">
                <a:effectLst/>
                <a:latin typeface="Helvetica Now Text" pitchFamily="2" charset="0"/>
              </a:rPr>
              <a:t>Genauigkeit</a:t>
            </a:r>
            <a:r>
              <a:rPr lang="en-GB" b="0" i="0" dirty="0">
                <a:effectLst/>
                <a:latin typeface="Helvetica Now Text" pitchFamily="2" charset="0"/>
              </a:rPr>
              <a:t>: Die </a:t>
            </a:r>
            <a:r>
              <a:rPr lang="en-GB" b="0" i="0" dirty="0" err="1">
                <a:effectLst/>
                <a:latin typeface="Helvetica Now Text" pitchFamily="2" charset="0"/>
              </a:rPr>
              <a:t>Verwaltung</a:t>
            </a:r>
            <a:r>
              <a:rPr lang="en-GB" b="0" i="0" dirty="0">
                <a:effectLst/>
                <a:latin typeface="Helvetica Now Text" pitchFamily="2" charset="0"/>
              </a:rPr>
              <a:t> auf Basis von Code </a:t>
            </a:r>
            <a:r>
              <a:rPr lang="en-GB" b="0" i="0" dirty="0" err="1">
                <a:effectLst/>
                <a:latin typeface="Helvetica Now Text" pitchFamily="2" charset="0"/>
              </a:rPr>
              <a:t>minimiert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menschliche</a:t>
            </a:r>
            <a:r>
              <a:rPr lang="en-GB" b="0" i="0" dirty="0">
                <a:effectLst/>
                <a:latin typeface="Helvetica Now Text" pitchFamily="2" charset="0"/>
              </a:rPr>
              <a:t> Fehler und </a:t>
            </a:r>
            <a:r>
              <a:rPr lang="en-GB" b="0" i="0" dirty="0" err="1">
                <a:effectLst/>
                <a:latin typeface="Helvetica Now Text" pitchFamily="2" charset="0"/>
              </a:rPr>
              <a:t>sorgt</a:t>
            </a:r>
            <a:r>
              <a:rPr lang="en-GB" b="0" i="0" dirty="0">
                <a:effectLst/>
                <a:latin typeface="Helvetica Now Text" pitchFamily="2" charset="0"/>
              </a:rPr>
              <a:t> für </a:t>
            </a:r>
            <a:r>
              <a:rPr lang="en-GB" b="0" i="0" dirty="0" err="1">
                <a:effectLst/>
                <a:latin typeface="Helvetica Now Text" pitchFamily="2" charset="0"/>
              </a:rPr>
              <a:t>eine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konsistentere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Umgebung</a:t>
            </a:r>
            <a:r>
              <a:rPr lang="en-GB" b="0" i="0" dirty="0">
                <a:effectLst/>
                <a:latin typeface="Helvetica Now Text" pitchFamily="2" charset="0"/>
              </a:rPr>
              <a:t>.</a:t>
            </a:r>
          </a:p>
          <a:p>
            <a:pPr algn="l"/>
            <a:r>
              <a:rPr lang="en-GB" b="1" i="0" dirty="0" err="1">
                <a:effectLst/>
                <a:latin typeface="Helvetica Now Text" pitchFamily="2" charset="0"/>
              </a:rPr>
              <a:t>Skalierbarkeit</a:t>
            </a:r>
            <a:r>
              <a:rPr lang="en-GB" b="1" i="0" dirty="0">
                <a:effectLst/>
                <a:latin typeface="Helvetica Now Text" pitchFamily="2" charset="0"/>
              </a:rPr>
              <a:t> und </a:t>
            </a:r>
            <a:r>
              <a:rPr lang="en-GB" b="1" i="0" dirty="0" err="1">
                <a:effectLst/>
                <a:latin typeface="Helvetica Now Text" pitchFamily="2" charset="0"/>
              </a:rPr>
              <a:t>Flexibilität</a:t>
            </a:r>
            <a:r>
              <a:rPr lang="en-GB" b="0" i="0" dirty="0">
                <a:effectLst/>
                <a:latin typeface="Helvetica Now Text" pitchFamily="2" charset="0"/>
              </a:rPr>
              <a:t>: Grosse </a:t>
            </a:r>
            <a:r>
              <a:rPr lang="en-GB" b="0" i="0" dirty="0" err="1">
                <a:effectLst/>
                <a:latin typeface="Helvetica Now Text" pitchFamily="2" charset="0"/>
              </a:rPr>
              <a:t>Infrastrukturen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sind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einfacher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zu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verwalten</a:t>
            </a:r>
            <a:r>
              <a:rPr lang="en-GB" b="0" i="0" dirty="0">
                <a:effectLst/>
                <a:latin typeface="Helvetica Now Text" pitchFamily="2" charset="0"/>
              </a:rPr>
              <a:t>, und </a:t>
            </a:r>
            <a:r>
              <a:rPr lang="en-GB" b="0" i="0" dirty="0" err="1">
                <a:effectLst/>
                <a:latin typeface="Helvetica Now Text" pitchFamily="2" charset="0"/>
              </a:rPr>
              <a:t>Anpassungen</a:t>
            </a:r>
            <a:r>
              <a:rPr lang="en-GB" b="0" i="0" dirty="0">
                <a:effectLst/>
                <a:latin typeface="Helvetica Now Text" pitchFamily="2" charset="0"/>
              </a:rPr>
              <a:t> an </a:t>
            </a:r>
            <a:r>
              <a:rPr lang="en-GB" b="0" i="0" dirty="0" err="1">
                <a:effectLst/>
                <a:latin typeface="Helvetica Now Text" pitchFamily="2" charset="0"/>
              </a:rPr>
              <a:t>Veränderungen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erfolgen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schneller</a:t>
            </a:r>
            <a:r>
              <a:rPr lang="en-GB" b="0" i="0" dirty="0">
                <a:effectLst/>
                <a:latin typeface="Helvetica Now Text" pitchFamily="2" charset="0"/>
              </a:rPr>
              <a:t>.</a:t>
            </a:r>
          </a:p>
          <a:p>
            <a:pPr algn="l"/>
            <a:r>
              <a:rPr lang="en-GB" b="1" i="0" dirty="0" err="1">
                <a:effectLst/>
                <a:latin typeface="Helvetica Now Text" pitchFamily="2" charset="0"/>
              </a:rPr>
              <a:t>Versionskontrolle</a:t>
            </a:r>
            <a:r>
              <a:rPr lang="en-GB" b="1" i="0" dirty="0">
                <a:effectLst/>
                <a:latin typeface="Helvetica Now Text" pitchFamily="2" charset="0"/>
              </a:rPr>
              <a:t> und </a:t>
            </a:r>
            <a:r>
              <a:rPr lang="en-GB" b="1" i="0" dirty="0" err="1">
                <a:effectLst/>
                <a:latin typeface="Helvetica Now Text" pitchFamily="2" charset="0"/>
              </a:rPr>
              <a:t>Dokumentation</a:t>
            </a:r>
            <a:r>
              <a:rPr lang="en-GB" b="0" i="0" dirty="0">
                <a:effectLst/>
                <a:latin typeface="Helvetica Now Text" pitchFamily="2" charset="0"/>
              </a:rPr>
              <a:t>: </a:t>
            </a:r>
            <a:r>
              <a:rPr lang="en-GB" b="0" i="0" dirty="0" err="1">
                <a:effectLst/>
                <a:latin typeface="Helvetica Now Text" pitchFamily="2" charset="0"/>
              </a:rPr>
              <a:t>Änderungen</a:t>
            </a:r>
            <a:r>
              <a:rPr lang="en-GB" b="0" i="0" dirty="0">
                <a:effectLst/>
                <a:latin typeface="Helvetica Now Text" pitchFamily="2" charset="0"/>
              </a:rPr>
              <a:t> an der </a:t>
            </a:r>
            <a:r>
              <a:rPr lang="en-GB" b="0" i="0" dirty="0" err="1">
                <a:effectLst/>
                <a:latin typeface="Helvetica Now Text" pitchFamily="2" charset="0"/>
              </a:rPr>
              <a:t>Infrastruktur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werden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nachverfolgt</a:t>
            </a:r>
            <a:r>
              <a:rPr lang="en-GB" b="0" i="0" dirty="0">
                <a:effectLst/>
                <a:latin typeface="Helvetica Now Text" pitchFamily="2" charset="0"/>
              </a:rPr>
              <a:t>, was </a:t>
            </a:r>
            <a:r>
              <a:rPr lang="en-GB" b="0" i="0" dirty="0" err="1">
                <a:effectLst/>
                <a:latin typeface="Helvetica Now Text" pitchFamily="2" charset="0"/>
              </a:rPr>
              <a:t>einen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Prüfpfad</a:t>
            </a:r>
            <a:r>
              <a:rPr lang="en-GB" b="0" i="0" dirty="0">
                <a:effectLst/>
                <a:latin typeface="Helvetica Now Text" pitchFamily="2" charset="0"/>
              </a:rPr>
              <a:t> und </a:t>
            </a:r>
            <a:r>
              <a:rPr lang="en-GB" b="0" i="0" dirty="0" err="1">
                <a:effectLst/>
                <a:latin typeface="Helvetica Now Text" pitchFamily="2" charset="0"/>
              </a:rPr>
              <a:t>Dokumentation</a:t>
            </a:r>
            <a:r>
              <a:rPr lang="en-GB" b="0" i="0" dirty="0">
                <a:effectLst/>
                <a:latin typeface="Helvetica Now Text" pitchFamily="2" charset="0"/>
              </a:rPr>
              <a:t> </a:t>
            </a:r>
            <a:r>
              <a:rPr lang="en-GB" b="0" i="0" dirty="0" err="1">
                <a:effectLst/>
                <a:latin typeface="Helvetica Now Text" pitchFamily="2" charset="0"/>
              </a:rPr>
              <a:t>bereitstellt</a:t>
            </a:r>
            <a:r>
              <a:rPr lang="en-GB" b="0" i="0" dirty="0">
                <a:effectLst/>
                <a:latin typeface="Helvetica Now Text" pitchFamily="2" charset="0"/>
              </a:rPr>
              <a:t>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2822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CB23-10F3-1DCD-64B6-E61DB1D5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3871-467A-3D5D-1484-DFBB9982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IaC Workflow</a:t>
            </a:r>
          </a:p>
        </p:txBody>
      </p:sp>
      <p:pic>
        <p:nvPicPr>
          <p:cNvPr id="5" name="Picture 4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9B77DADC-A215-C6D0-5674-6FAB2E38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61" y="1431952"/>
            <a:ext cx="9938478" cy="5176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06197-DAE0-6267-71A5-243AC063F7B8}"/>
              </a:ext>
            </a:extLst>
          </p:cNvPr>
          <p:cNvSpPr txBox="1"/>
          <p:nvPr/>
        </p:nvSpPr>
        <p:spPr>
          <a:xfrm>
            <a:off x="922858" y="6251944"/>
            <a:ext cx="280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Source:</a:t>
            </a:r>
            <a:r>
              <a:rPr lang="en-GB" dirty="0">
                <a:hlinkClick r:id="rId4"/>
              </a:rPr>
              <a:t>https://</a:t>
            </a:r>
            <a:r>
              <a:rPr lang="en-GB" dirty="0" err="1">
                <a:hlinkClick r:id="rId4"/>
              </a:rPr>
              <a:t>spacelift.io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5821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08839-9B4A-3E39-D45C-FA4CF2BF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1010D7-89F7-5B3A-D5A3-CF8D5A94A1D7}"/>
              </a:ext>
            </a:extLst>
          </p:cNvPr>
          <p:cNvSpPr/>
          <p:nvPr/>
        </p:nvSpPr>
        <p:spPr>
          <a:xfrm>
            <a:off x="9147159" y="3689246"/>
            <a:ext cx="2111105" cy="189973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D130DD-10CC-A20C-AF67-F7E4889E1735}"/>
              </a:ext>
            </a:extLst>
          </p:cNvPr>
          <p:cNvSpPr/>
          <p:nvPr/>
        </p:nvSpPr>
        <p:spPr>
          <a:xfrm>
            <a:off x="922857" y="2583117"/>
            <a:ext cx="3529221" cy="1089473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40087-0867-08B6-5C9F-0D00D945B07A}"/>
              </a:ext>
            </a:extLst>
          </p:cNvPr>
          <p:cNvSpPr txBox="1"/>
          <p:nvPr/>
        </p:nvSpPr>
        <p:spPr>
          <a:xfrm>
            <a:off x="922858" y="6251944"/>
            <a:ext cx="2869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Source:</a:t>
            </a:r>
            <a:r>
              <a:rPr lang="en-GB" dirty="0">
                <a:hlinkClick r:id="rId3"/>
              </a:rPr>
              <a:t>https://bluelight.co</a:t>
            </a:r>
            <a:endParaRPr lang="en-CH" dirty="0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58D6D4B-2B85-DA5F-AA5C-CD9510764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04" y="2601326"/>
            <a:ext cx="3153737" cy="10894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32740C5-E9B8-6740-B70B-4524F0263A9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IaC Tools</a:t>
            </a:r>
          </a:p>
        </p:txBody>
      </p:sp>
      <p:pic>
        <p:nvPicPr>
          <p:cNvPr id="11" name="Picture 10" descr="A green cube with a logo&#10;&#10;AI-generated content may be incorrect.">
            <a:extLst>
              <a:ext uri="{FF2B5EF4-FFF2-40B4-BE49-F238E27FC236}">
                <a16:creationId xmlns:a16="http://schemas.microsoft.com/office/drawing/2014/main" id="{68AC7A75-73D0-821C-4A2F-5872607D8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04" y="3689246"/>
            <a:ext cx="2000640" cy="2000640"/>
          </a:xfrm>
          <a:prstGeom prst="rect">
            <a:avLst/>
          </a:prstGeom>
        </p:spPr>
      </p:pic>
      <p:pic>
        <p:nvPicPr>
          <p:cNvPr id="13" name="Picture 12" descr="A blue hexagon with a white screen&#10;&#10;AI-generated content may be incorrect.">
            <a:extLst>
              <a:ext uri="{FF2B5EF4-FFF2-40B4-BE49-F238E27FC236}">
                <a16:creationId xmlns:a16="http://schemas.microsoft.com/office/drawing/2014/main" id="{C491998A-FCD6-6758-40B0-03DAE80DE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827" y="4187567"/>
            <a:ext cx="1985048" cy="1692431"/>
          </a:xfrm>
          <a:prstGeom prst="rect">
            <a:avLst/>
          </a:prstGeom>
        </p:spPr>
      </p:pic>
      <p:pic>
        <p:nvPicPr>
          <p:cNvPr id="15" name="Picture 14" descr="A white letter in a black circle&#10;&#10;AI-generated content may be incorrect.">
            <a:extLst>
              <a:ext uri="{FF2B5EF4-FFF2-40B4-BE49-F238E27FC236}">
                <a16:creationId xmlns:a16="http://schemas.microsoft.com/office/drawing/2014/main" id="{695C53CB-2CA9-7626-1823-4979146AA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870" y="3407031"/>
            <a:ext cx="2616475" cy="2616475"/>
          </a:xfrm>
          <a:prstGeom prst="rect">
            <a:avLst/>
          </a:prstGeom>
        </p:spPr>
      </p:pic>
      <p:pic>
        <p:nvPicPr>
          <p:cNvPr id="17" name="Picture 16" descr="A logo with a cube shaped object&#10;&#10;AI-generated content may be incorrect.">
            <a:extLst>
              <a:ext uri="{FF2B5EF4-FFF2-40B4-BE49-F238E27FC236}">
                <a16:creationId xmlns:a16="http://schemas.microsoft.com/office/drawing/2014/main" id="{E2491D4E-CD56-0F34-48B3-E661833029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4354" y="3722744"/>
            <a:ext cx="1985048" cy="198504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49F4553-AE53-9D24-FAB1-396F2757DE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2468" y="1988738"/>
            <a:ext cx="1363532" cy="1455854"/>
          </a:xfrm>
          <a:prstGeom prst="rect">
            <a:avLst/>
          </a:prstGeom>
        </p:spPr>
      </p:pic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0DCC45D8-4839-39CE-53E2-A5974EA8F6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964" y="2237732"/>
            <a:ext cx="2498195" cy="929884"/>
          </a:xfrm>
          <a:prstGeom prst="rect">
            <a:avLst/>
          </a:prstGeom>
        </p:spPr>
      </p:pic>
      <p:pic>
        <p:nvPicPr>
          <p:cNvPr id="25" name="Picture 24" descr="A colorful popsicle with text overlay&#10;&#10;AI-generated content may be incorrect.">
            <a:extLst>
              <a:ext uri="{FF2B5EF4-FFF2-40B4-BE49-F238E27FC236}">
                <a16:creationId xmlns:a16="http://schemas.microsoft.com/office/drawing/2014/main" id="{CA424701-1F94-2B25-9B86-6E3C6FD5C2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0407" y="1269017"/>
            <a:ext cx="2202795" cy="22027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C1AAFD2-4F1E-D069-F717-9CAC2C8421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5581" y="933399"/>
            <a:ext cx="1415912" cy="1467534"/>
          </a:xfrm>
          <a:prstGeom prst="rect">
            <a:avLst/>
          </a:prstGeom>
        </p:spPr>
      </p:pic>
      <p:pic>
        <p:nvPicPr>
          <p:cNvPr id="29" name="Picture 28" descr="A blue cube with a black background&#10;&#10;AI-generated content may be incorrect.">
            <a:extLst>
              <a:ext uri="{FF2B5EF4-FFF2-40B4-BE49-F238E27FC236}">
                <a16:creationId xmlns:a16="http://schemas.microsoft.com/office/drawing/2014/main" id="{BEF7AF79-DD50-DFA0-0C9F-2AE00E5E7E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248" y="858865"/>
            <a:ext cx="1532725" cy="1393881"/>
          </a:xfrm>
          <a:prstGeom prst="rect">
            <a:avLst/>
          </a:prstGeom>
        </p:spPr>
      </p:pic>
      <p:pic>
        <p:nvPicPr>
          <p:cNvPr id="31" name="Picture 30" descr="A logo of a cartoon character&#10;&#10;AI-generated content may be incorrect.">
            <a:extLst>
              <a:ext uri="{FF2B5EF4-FFF2-40B4-BE49-F238E27FC236}">
                <a16:creationId xmlns:a16="http://schemas.microsoft.com/office/drawing/2014/main" id="{79CDC225-16A3-9344-F2CF-66BBFA6B46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9191" y="739495"/>
            <a:ext cx="1336349" cy="1336349"/>
          </a:xfrm>
          <a:prstGeom prst="rect">
            <a:avLst/>
          </a:prstGeom>
        </p:spPr>
      </p:pic>
      <p:pic>
        <p:nvPicPr>
          <p:cNvPr id="3" name="Picture 2" descr="The image depicts a minimalist, yellow cube with a simplistic, smiling face drawn on its side, suggesting a cartoonish or playful design.&#10;&#10;AI-generated content may be incorrect.">
            <a:extLst>
              <a:ext uri="{FF2B5EF4-FFF2-40B4-BE49-F238E27FC236}">
                <a16:creationId xmlns:a16="http://schemas.microsoft.com/office/drawing/2014/main" id="{F244E7C0-2E59-6CB0-0991-35FE069C27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1833" y="3809994"/>
            <a:ext cx="1759143" cy="175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2E0-ED3F-D8CE-ADA4-44996612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ject&#10;&#10;AI-generated content may be incorrect.">
            <a:extLst>
              <a:ext uri="{FF2B5EF4-FFF2-40B4-BE49-F238E27FC236}">
                <a16:creationId xmlns:a16="http://schemas.microsoft.com/office/drawing/2014/main" id="{B5FE816B-408C-FDF0-E792-88ADBC8A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8" y="82923"/>
            <a:ext cx="7674429" cy="667652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1DF1467-8C73-E8DA-AAC2-35758D810F3E}"/>
              </a:ext>
            </a:extLst>
          </p:cNvPr>
          <p:cNvSpPr txBox="1">
            <a:spLocks/>
          </p:cNvSpPr>
          <p:nvPr/>
        </p:nvSpPr>
        <p:spPr>
          <a:xfrm>
            <a:off x="968829" y="2616810"/>
            <a:ext cx="3048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H" dirty="0"/>
              <a:t>Terraform Workflow</a:t>
            </a:r>
          </a:p>
        </p:txBody>
      </p:sp>
    </p:spTree>
    <p:extLst>
      <p:ext uri="{BB962C8B-B14F-4D97-AF65-F5344CB8AC3E}">
        <p14:creationId xmlns:p14="http://schemas.microsoft.com/office/powerpoint/2010/main" val="424463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017D-D77C-3DF3-1A1C-F10C8A5D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1013-EF4B-7501-747D-F5F0FF2E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Terraform Installation</a:t>
            </a:r>
            <a:endParaRPr lang="en-C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2BE7E-7780-8DCB-F323-1AF0E4B7AE93}"/>
              </a:ext>
            </a:extLst>
          </p:cNvPr>
          <p:cNvSpPr txBox="1"/>
          <p:nvPr/>
        </p:nvSpPr>
        <p:spPr>
          <a:xfrm>
            <a:off x="838200" y="1774360"/>
            <a:ext cx="3855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 err="1"/>
              <a:t>Installiere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AWS CLI </a:t>
            </a:r>
            <a:r>
              <a:rPr lang="en-GB" dirty="0"/>
              <a:t>Tool (Windows, Mac, Linux (Windows with </a:t>
            </a:r>
            <a:r>
              <a:rPr lang="en-GB" dirty="0">
                <a:hlinkClick r:id="rId4"/>
              </a:rPr>
              <a:t>WSL</a:t>
            </a:r>
            <a:r>
              <a:rPr lang="en-GB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err="1"/>
              <a:t>Installiere</a:t>
            </a:r>
            <a:r>
              <a:rPr lang="en-GB" dirty="0"/>
              <a:t> </a:t>
            </a:r>
            <a:r>
              <a:rPr lang="en-GB" dirty="0">
                <a:hlinkClick r:id="rId5"/>
              </a:rPr>
              <a:t>Terraform CLI </a:t>
            </a:r>
            <a:r>
              <a:rPr lang="en-GB" dirty="0"/>
              <a:t>Tool (Windows, Mac, Linux (Windows with </a:t>
            </a:r>
            <a:r>
              <a:rPr lang="en-GB" dirty="0">
                <a:hlinkClick r:id="rId4"/>
              </a:rPr>
              <a:t>WSL</a:t>
            </a:r>
            <a:r>
              <a:rPr lang="en-GB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err="1"/>
              <a:t>Klone</a:t>
            </a:r>
            <a:r>
              <a:rPr lang="en-GB" dirty="0"/>
              <a:t> das </a:t>
            </a:r>
            <a:r>
              <a:rPr lang="en-GB" dirty="0">
                <a:hlinkClick r:id="rId6"/>
              </a:rPr>
              <a:t>sample repository</a:t>
            </a:r>
            <a:r>
              <a:rPr lang="en-GB" dirty="0"/>
              <a:t> und </a:t>
            </a:r>
            <a:r>
              <a:rPr lang="en-GB" dirty="0" err="1"/>
              <a:t>folge</a:t>
            </a:r>
            <a:r>
              <a:rPr lang="en-GB" dirty="0"/>
              <a:t> der </a:t>
            </a:r>
            <a:r>
              <a:rPr lang="en-GB" dirty="0" err="1"/>
              <a:t>Anleitung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Readme.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 err="1"/>
              <a:t>Wichtig</a:t>
            </a:r>
            <a:r>
              <a:rPr lang="en-GB" b="1" dirty="0"/>
              <a:t>: </a:t>
            </a:r>
            <a:r>
              <a:rPr lang="en-GB" dirty="0"/>
              <a:t>Damit Terraform </a:t>
            </a:r>
            <a:r>
              <a:rPr lang="en-GB" dirty="0" err="1"/>
              <a:t>Zugriff</a:t>
            </a:r>
            <a:r>
              <a:rPr lang="en-GB" dirty="0"/>
              <a:t> auf </a:t>
            </a:r>
            <a:r>
              <a:rPr lang="en-GB" dirty="0" err="1"/>
              <a:t>Ihr</a:t>
            </a:r>
            <a:r>
              <a:rPr lang="en-GB" dirty="0"/>
              <a:t> AWS Cloud </a:t>
            </a:r>
            <a:r>
              <a:rPr lang="en-GB" dirty="0" err="1"/>
              <a:t>Konto</a:t>
            </a:r>
            <a:r>
              <a:rPr lang="en-GB" dirty="0"/>
              <a:t> hat, </a:t>
            </a:r>
            <a:r>
              <a:rPr lang="en-GB" dirty="0" err="1"/>
              <a:t>kopieren</a:t>
            </a:r>
            <a:r>
              <a:rPr lang="en-GB" dirty="0"/>
              <a:t> Sie </a:t>
            </a:r>
            <a:r>
              <a:rPr lang="en-GB" dirty="0" err="1"/>
              <a:t>Ihren</a:t>
            </a:r>
            <a:r>
              <a:rPr lang="en-GB" dirty="0"/>
              <a:t> </a:t>
            </a:r>
            <a:r>
              <a:rPr lang="en-GB" b="1" dirty="0"/>
              <a:t>Access Key (id, key) </a:t>
            </a:r>
            <a:r>
              <a:rPr lang="en-GB" dirty="0"/>
              <a:t>und </a:t>
            </a:r>
            <a:r>
              <a:rPr lang="en-GB" dirty="0" err="1"/>
              <a:t>Ihr</a:t>
            </a:r>
            <a:r>
              <a:rPr lang="en-GB" dirty="0"/>
              <a:t> </a:t>
            </a:r>
            <a:r>
              <a:rPr lang="en-GB" b="1" dirty="0"/>
              <a:t>Session Token </a:t>
            </a:r>
            <a:r>
              <a:rPr lang="en-GB" dirty="0"/>
              <a:t>(</a:t>
            </a:r>
            <a:r>
              <a:rPr lang="en-GB" dirty="0" err="1"/>
              <a:t>Während</a:t>
            </a:r>
            <a:r>
              <a:rPr lang="en-GB" dirty="0"/>
              <a:t> </a:t>
            </a:r>
            <a:r>
              <a:rPr lang="en-GB" dirty="0" err="1"/>
              <a:t>cmd</a:t>
            </a:r>
            <a:r>
              <a:rPr lang="en-GB" dirty="0"/>
              <a:t>: </a:t>
            </a:r>
            <a:r>
              <a:rPr lang="en-GB" b="1" i="1" dirty="0" err="1"/>
              <a:t>aws</a:t>
            </a:r>
            <a:r>
              <a:rPr lang="en-GB" b="1" i="1" dirty="0"/>
              <a:t> configure</a:t>
            </a:r>
            <a:r>
              <a:rPr lang="en-GB" dirty="0"/>
              <a:t>).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LID4096" dirty="0"/>
          </a:p>
        </p:txBody>
      </p:sp>
      <p:pic>
        <p:nvPicPr>
          <p:cNvPr id="7" name="Picture 6" descr="The image shows a user interface for the AWS Academy Learner Lab, displaying various options and statistics about a lab session, including time remaining and account details.&#10;&#10;AI-generated content may be incorrect.">
            <a:extLst>
              <a:ext uri="{FF2B5EF4-FFF2-40B4-BE49-F238E27FC236}">
                <a16:creationId xmlns:a16="http://schemas.microsoft.com/office/drawing/2014/main" id="{7BCF29D8-AAE0-06AD-D0E3-0670783AB9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767" y="1690688"/>
            <a:ext cx="7309479" cy="415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7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bad0d50-9cbb-471c-bae7-38b20ec0f1f9}" enabled="1" method="Standard" siteId="{35aa8c5b-ac0a-4b15-9788-ff6dfa2290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8691</TotalTime>
  <Words>225</Words>
  <Application>Microsoft Office PowerPoint</Application>
  <PresentationFormat>Widescreen</PresentationFormat>
  <Paragraphs>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Helvetica Now Text</vt:lpstr>
      <vt:lpstr>Office Theme</vt:lpstr>
      <vt:lpstr>Infrastructure as code (IaC)</vt:lpstr>
      <vt:lpstr>“Infrastructure as Code (IaC) ist eine Methode zur Verwaltung und Bereitstellung von IT-Infrastruktur mittels Code-basierter Automatisierung, die konsistente, skalierbare und versionskontrollierte Umgebungen gewährleistet.”</vt:lpstr>
      <vt:lpstr>Why should you use IaC Tools?</vt:lpstr>
      <vt:lpstr>IaC Workflow</vt:lpstr>
      <vt:lpstr>PowerPoint Presentation</vt:lpstr>
      <vt:lpstr>PowerPoint Presentation</vt:lpstr>
      <vt:lpstr>Terraform 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Bohn, Kevin Cedric-MGB</dc:creator>
  <cp:lastModifiedBy>Kevin Bohn</cp:lastModifiedBy>
  <cp:revision>12</cp:revision>
  <dcterms:created xsi:type="dcterms:W3CDTF">2025-02-26T19:38:43Z</dcterms:created>
  <dcterms:modified xsi:type="dcterms:W3CDTF">2026-03-05T22:14:50Z</dcterms:modified>
</cp:coreProperties>
</file>